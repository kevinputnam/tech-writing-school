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a10585ea2e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a10585ea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a0fe41bbae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a0fe41bba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10585ea2e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10585ea2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a0fe41bbae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a0fe41bba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pandoc.org/installing.html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docutils.sourceforge.io/docs/ref/rst/restructuredtext.html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raw.githubusercontent.com/kevinputnam/tech-writing-school/main/ktp-adv.rst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docutils.sourceforge.io/0.14/docs/ref/rst/roles.html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docutils.sourceforge.io/docs/ref/rst/directives.html" TargetMode="External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sphinx-doc.org/en/master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docutils.sourceforge.io/docs/ref/rst/restructuredtext.html" TargetMode="External"/><Relationship Id="rId4" Type="http://schemas.openxmlformats.org/officeDocument/2006/relationships/hyperlink" Target="https://www.sphinx-doc.org/en/master/usage/restructuredtext/index.html" TargetMode="External"/><Relationship Id="rId5" Type="http://schemas.openxmlformats.org/officeDocument/2006/relationships/hyperlink" Target="http://conf.py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/>
              <a:t>Making Docs with reStructuredText and Sphinx</a:t>
            </a:r>
            <a:endParaRPr/>
          </a:p>
        </p:txBody>
      </p:sp>
      <p:sp>
        <p:nvSpPr>
          <p:cNvPr id="85" name="Google Shape;85;p1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Kevin Putnam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Tools</a:t>
            </a:r>
            <a:endParaRPr/>
          </a:p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85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US"/>
              <a:t>Required</a:t>
            </a:r>
            <a:endParaRPr/>
          </a:p>
          <a:p>
            <a:pPr indent="-287020" lvl="0" marL="228600" rtl="0" algn="l">
              <a:spcBef>
                <a:spcPts val="1000"/>
              </a:spcBef>
              <a:spcAft>
                <a:spcPts val="0"/>
              </a:spcAft>
              <a:buSzPct val="114285"/>
              <a:buChar char="•"/>
            </a:pPr>
            <a:r>
              <a:rPr lang="en-US"/>
              <a:t>Python 3.X or better. I think you need at least 3.10 for the newest versions of Sphinx</a:t>
            </a:r>
            <a:endParaRPr/>
          </a:p>
          <a:p>
            <a:pPr indent="-287020" lvl="0" marL="228600" rtl="0" algn="l">
              <a:spcBef>
                <a:spcPts val="1000"/>
              </a:spcBef>
              <a:spcAft>
                <a:spcPts val="0"/>
              </a:spcAft>
              <a:buSzPct val="114285"/>
              <a:buChar char="•"/>
            </a:pPr>
            <a:r>
              <a:rPr lang="en-US"/>
              <a:t>Sphinx. The version doesn’t matter much for today, though 8.X will make things easier.</a:t>
            </a:r>
            <a:endParaRPr/>
          </a:p>
          <a:p>
            <a:pPr indent="-287020" lvl="0" marL="228600" rtl="0" algn="l">
              <a:spcBef>
                <a:spcPts val="1000"/>
              </a:spcBef>
              <a:spcAft>
                <a:spcPts val="0"/>
              </a:spcAft>
              <a:buSzPct val="114285"/>
              <a:buChar char="•"/>
            </a:pPr>
            <a:r>
              <a:rPr lang="en-US"/>
              <a:t>Using the command line.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US"/>
              <a:t>Optional</a:t>
            </a:r>
            <a:endParaRPr/>
          </a:p>
          <a:p>
            <a:pPr indent="-287020" lvl="0" marL="228600" rtl="0" algn="l">
              <a:spcBef>
                <a:spcPts val="1000"/>
              </a:spcBef>
              <a:spcAft>
                <a:spcPts val="0"/>
              </a:spcAft>
              <a:buSzPct val="114285"/>
              <a:buChar char="•"/>
            </a:pPr>
            <a:r>
              <a:rPr lang="en-US"/>
              <a:t>Visual Studio Code with reStructuredText extension or your text editor of choice</a:t>
            </a:r>
            <a:endParaRPr/>
          </a:p>
          <a:p>
            <a:pPr indent="-287020" lvl="0" marL="228600" rtl="0" algn="l">
              <a:spcBef>
                <a:spcPts val="1000"/>
              </a:spcBef>
              <a:spcAft>
                <a:spcPts val="0"/>
              </a:spcAft>
              <a:buSzPct val="114285"/>
              <a:buChar char="•"/>
            </a:pPr>
            <a:r>
              <a:rPr lang="en-US"/>
              <a:t>Windows Subsystem for Linux v1 with Ubuntu or your preferred Linux distro.</a:t>
            </a:r>
            <a:endParaRPr/>
          </a:p>
          <a:p>
            <a:pPr indent="-22352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14285"/>
              <a:buChar char="•"/>
            </a:pPr>
            <a:r>
              <a:rPr lang="en-US"/>
              <a:t>Pandoc - Install: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https://pandoc.org/installing.html</a:t>
            </a:r>
            <a:r>
              <a:rPr lang="en-US"/>
              <a:t> (Windows), </a:t>
            </a:r>
            <a:r>
              <a:rPr b="1" lang="en-US" sz="2100">
                <a:latin typeface="Courier New"/>
                <a:ea typeface="Courier New"/>
                <a:cs typeface="Courier New"/>
                <a:sym typeface="Courier New"/>
              </a:rPr>
              <a:t>apt-get install pandoc</a:t>
            </a:r>
            <a:r>
              <a:rPr lang="en-US"/>
              <a:t> (Ubuntu), or </a:t>
            </a:r>
            <a:r>
              <a:rPr b="1" lang="en-US" sz="2100">
                <a:latin typeface="Courier New"/>
                <a:ea typeface="Courier New"/>
                <a:cs typeface="Courier New"/>
                <a:sym typeface="Courier New"/>
              </a:rPr>
              <a:t>brew install pandoc</a:t>
            </a:r>
            <a:r>
              <a:rPr lang="en-US" sz="210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/>
              <a:t>(MacOS</a:t>
            </a:r>
            <a:r>
              <a:rPr lang="en-US"/>
              <a:t>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Installation</a:t>
            </a:r>
            <a:endParaRPr/>
          </a:p>
        </p:txBody>
      </p:sp>
      <p:sp>
        <p:nvSpPr>
          <p:cNvPr id="97" name="Google Shape;97;p15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Prerequisites: Python and venv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-US"/>
              <a:t>Install venv (Ubuntu)</a:t>
            </a:r>
            <a:endParaRPr/>
          </a:p>
          <a:p>
            <a:pPr indent="0" lvl="0" marL="9144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sudo apt install python3-venv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-US"/>
              <a:t>Create virtual environment</a:t>
            </a:r>
            <a:endParaRPr/>
          </a:p>
          <a:p>
            <a:pPr indent="0" lvl="0" marL="9144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python3 -m venv &lt;target directory for virtual environment files&gt;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-US"/>
              <a:t>Start virtual environment </a:t>
            </a:r>
            <a:endParaRPr/>
          </a:p>
          <a:p>
            <a:pPr indent="0" lvl="0" marL="9144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source ~/path/to/virtual/environment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-US"/>
              <a:t>Install sphinx etc</a:t>
            </a:r>
            <a:endParaRPr/>
          </a:p>
          <a:p>
            <a:pPr indent="0" lvl="0" marL="9144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pip3 install sphinx pydata-sphinx-theme sphinx-design myst-parser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reStructuredText</a:t>
            </a:r>
            <a:endParaRPr/>
          </a:p>
        </p:txBody>
      </p:sp>
      <p:sp>
        <p:nvSpPr>
          <p:cNvPr id="103" name="Google Shape;103;p1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reST is a simple and extensible open-source markup language that is easy for humans to read.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It is intended to be converted into other formats including HTML.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/>
              <a:t>The reStructuredText specification is defined in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Docutils</a:t>
            </a:r>
            <a:r>
              <a:rPr lang="en-US"/>
              <a:t>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Getting started with reStructuredText</a:t>
            </a:r>
            <a:endParaRPr/>
          </a:p>
        </p:txBody>
      </p:sp>
      <p:sp>
        <p:nvSpPr>
          <p:cNvPr id="109" name="Google Shape;10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Key concepts: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Built-in markup – headers, bullets, definition lists, etc.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Directives – adds new kinds of blocks and can sometimes be nested.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Roles – adds inline snippets.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Indentation – like Python it helps define blocks and the depth must match exactly.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Ways to convert reStructuredText to HTML: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Docutils: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rst2html.py input.rst output.html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Pandoc: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pandoc -f rst -t html input.rst &gt; output.html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Sphinx: to be covered later in the presentation.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Automatically in GitHub and GitLab</a:t>
            </a: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1860467" y="6123543"/>
            <a:ext cx="8934203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https://raw.githubusercontent.com/kevinputnam/tech-writing-school/main/ktp-adv.rst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838200" y="35641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Built-in markup</a:t>
            </a:r>
            <a:endParaRPr/>
          </a:p>
        </p:txBody>
      </p:sp>
      <p:sp>
        <p:nvSpPr>
          <p:cNvPr id="116" name="Google Shape;116;p18"/>
          <p:cNvSpPr txBox="1"/>
          <p:nvPr>
            <p:ph idx="1" type="body"/>
          </p:nvPr>
        </p:nvSpPr>
        <p:spPr>
          <a:xfrm>
            <a:off x="838200" y="1851750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Headers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Lists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Definition lists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Reference targets (make unique)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Links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Block quote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Bold/Italic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grpSp>
        <p:nvGrpSpPr>
          <p:cNvPr id="117" name="Google Shape;117;p18"/>
          <p:cNvGrpSpPr/>
          <p:nvPr/>
        </p:nvGrpSpPr>
        <p:grpSpPr>
          <a:xfrm>
            <a:off x="6468234" y="167064"/>
            <a:ext cx="5320607" cy="6523872"/>
            <a:chOff x="5461471" y="167064"/>
            <a:chExt cx="5320607" cy="6523872"/>
          </a:xfrm>
        </p:grpSpPr>
        <p:pic>
          <p:nvPicPr>
            <p:cNvPr id="118" name="Google Shape;118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525206" y="167064"/>
              <a:ext cx="5256872" cy="652387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9" name="Google Shape;119;p18"/>
            <p:cNvSpPr/>
            <p:nvPr/>
          </p:nvSpPr>
          <p:spPr>
            <a:xfrm>
              <a:off x="6744395" y="167064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120" name="Google Shape;120;p18"/>
            <p:cNvSpPr/>
            <p:nvPr/>
          </p:nvSpPr>
          <p:spPr>
            <a:xfrm>
              <a:off x="6530246" y="3857602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121" name="Google Shape;121;p18"/>
            <p:cNvSpPr/>
            <p:nvPr/>
          </p:nvSpPr>
          <p:spPr>
            <a:xfrm>
              <a:off x="6703500" y="2717296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122" name="Google Shape;122;p18"/>
            <p:cNvSpPr/>
            <p:nvPr/>
          </p:nvSpPr>
          <p:spPr>
            <a:xfrm>
              <a:off x="5461471" y="6161950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123" name="Google Shape;123;p18"/>
            <p:cNvSpPr/>
            <p:nvPr/>
          </p:nvSpPr>
          <p:spPr>
            <a:xfrm>
              <a:off x="7043134" y="4262109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124" name="Google Shape;124;p18"/>
            <p:cNvSpPr/>
            <p:nvPr/>
          </p:nvSpPr>
          <p:spPr>
            <a:xfrm>
              <a:off x="6808662" y="1889814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125" name="Google Shape;125;p18"/>
            <p:cNvSpPr/>
            <p:nvPr/>
          </p:nvSpPr>
          <p:spPr>
            <a:xfrm>
              <a:off x="8900699" y="6161950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126" name="Google Shape;126;p18"/>
            <p:cNvSpPr/>
            <p:nvPr/>
          </p:nvSpPr>
          <p:spPr>
            <a:xfrm>
              <a:off x="9240333" y="1342345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cxnSp>
          <p:nvCxnSpPr>
            <p:cNvPr id="127" name="Google Shape;127;p18"/>
            <p:cNvCxnSpPr>
              <a:stCxn id="128" idx="6"/>
            </p:cNvCxnSpPr>
            <p:nvPr/>
          </p:nvCxnSpPr>
          <p:spPr>
            <a:xfrm flipH="1" rot="10800000">
              <a:off x="8355752" y="1553151"/>
              <a:ext cx="544800" cy="295500"/>
            </a:xfrm>
            <a:prstGeom prst="straightConnector1">
              <a:avLst/>
            </a:prstGeom>
            <a:noFill/>
            <a:ln cap="flat" cmpd="sng" w="38100">
              <a:solidFill>
                <a:srgbClr val="FF0000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cxnSp>
          <p:nvCxnSpPr>
            <p:cNvPr id="129" name="Google Shape;129;p18"/>
            <p:cNvCxnSpPr>
              <a:stCxn id="128" idx="2"/>
            </p:cNvCxnSpPr>
            <p:nvPr/>
          </p:nvCxnSpPr>
          <p:spPr>
            <a:xfrm rot="10800000">
              <a:off x="7382818" y="1759551"/>
              <a:ext cx="633300" cy="89100"/>
            </a:xfrm>
            <a:prstGeom prst="straightConnector1">
              <a:avLst/>
            </a:prstGeom>
            <a:noFill/>
            <a:ln cap="flat" cmpd="sng" w="38100">
              <a:solidFill>
                <a:srgbClr val="FF0000"/>
              </a:solidFill>
              <a:prstDash val="solid"/>
              <a:miter lim="800000"/>
              <a:headEnd len="sm" w="sm" type="none"/>
              <a:tailEnd len="med" w="med" type="triangle"/>
            </a:ln>
          </p:spPr>
        </p:cxnSp>
        <p:sp>
          <p:nvSpPr>
            <p:cNvPr id="128" name="Google Shape;128;p18"/>
            <p:cNvSpPr/>
            <p:nvPr/>
          </p:nvSpPr>
          <p:spPr>
            <a:xfrm>
              <a:off x="8016118" y="1678834"/>
              <a:ext cx="339634" cy="339634"/>
            </a:xfrm>
            <a:prstGeom prst="ellipse">
              <a:avLst/>
            </a:prstGeom>
            <a:solidFill>
              <a:schemeClr val="dk1"/>
            </a:solidFill>
            <a:ln cap="flat" cmpd="sng" w="38100">
              <a:solidFill>
                <a:schemeClr val="lt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/>
          <p:nvPr>
            <p:ph type="title"/>
          </p:nvPr>
        </p:nvSpPr>
        <p:spPr>
          <a:xfrm>
            <a:off x="838200" y="35641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Roles</a:t>
            </a:r>
            <a:r>
              <a:rPr lang="en-US"/>
              <a:t> – inline</a:t>
            </a:r>
            <a:endParaRPr/>
          </a:p>
        </p:txBody>
      </p:sp>
      <p:sp>
        <p:nvSpPr>
          <p:cNvPr id="135" name="Google Shape;135;p1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Literal -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``text``</a:t>
            </a:r>
            <a:r>
              <a:rPr lang="en-US"/>
              <a:t> or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:literal:`text`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Code -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:code:``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Math -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:math:``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Emphasis -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:emphasis:``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Strong -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:strong:``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Subscript/Superscript -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:sub:``</a:t>
            </a:r>
            <a:r>
              <a:rPr lang="en-US"/>
              <a:t> and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:sup:``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en-US"/>
              <a:t>Syntax: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pic>
        <p:nvPicPr>
          <p:cNvPr id="136" name="Google Shape;13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41562" y="5433877"/>
            <a:ext cx="3743847" cy="371527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9"/>
          <p:cNvSpPr txBox="1"/>
          <p:nvPr/>
        </p:nvSpPr>
        <p:spPr>
          <a:xfrm>
            <a:off x="5968897" y="5433877"/>
            <a:ext cx="45459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role name is between colons.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content is between backticks.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Directives</a:t>
            </a:r>
            <a:r>
              <a:rPr lang="en-US"/>
              <a:t> – block (can sometimes be nested)</a:t>
            </a:r>
            <a:endParaRPr/>
          </a:p>
        </p:txBody>
      </p:sp>
      <p:sp>
        <p:nvSpPr>
          <p:cNvPr id="143" name="Google Shape;143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-215265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55555"/>
              <a:buChar char="•"/>
            </a:pPr>
            <a:r>
              <a:rPr lang="en-US"/>
              <a:t>Internal table of contents - .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. contents::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215265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55555"/>
              <a:buChar char="•"/>
            </a:pPr>
            <a:r>
              <a:rPr lang="en-US"/>
              <a:t>List Table -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.. list-table::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215265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Notes, Warnings, and Cautions - </a:t>
            </a:r>
            <a:r>
              <a:rPr b="1" lang="en-US" sz="1900">
                <a:latin typeface="Courier New"/>
                <a:ea typeface="Courier New"/>
                <a:cs typeface="Courier New"/>
                <a:sym typeface="Courier New"/>
              </a:rPr>
              <a:t>.. note::</a:t>
            </a:r>
            <a:r>
              <a:rPr lang="en-US"/>
              <a:t> or </a:t>
            </a:r>
            <a:r>
              <a:rPr b="1" lang="en-US" sz="1900">
                <a:latin typeface="Courier New"/>
                <a:ea typeface="Courier New"/>
                <a:cs typeface="Courier New"/>
                <a:sym typeface="Courier New"/>
              </a:rPr>
              <a:t>.. warning::</a:t>
            </a:r>
            <a:r>
              <a:rPr lang="en-US"/>
              <a:t> or </a:t>
            </a:r>
            <a:r>
              <a:rPr b="1" lang="en-US" sz="1900">
                <a:latin typeface="Courier New"/>
                <a:ea typeface="Courier New"/>
                <a:cs typeface="Courier New"/>
                <a:sym typeface="Courier New"/>
              </a:rPr>
              <a:t>.. caution::</a:t>
            </a:r>
            <a:r>
              <a:rPr lang="en-US"/>
              <a:t> </a:t>
            </a:r>
            <a:endParaRPr/>
          </a:p>
          <a:p>
            <a:pPr indent="-215265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47368"/>
              <a:buChar char="•"/>
            </a:pPr>
            <a:r>
              <a:rPr lang="en-US"/>
              <a:t>Images and Figures - </a:t>
            </a:r>
            <a:r>
              <a:rPr b="1" lang="en-US" sz="1900">
                <a:latin typeface="Courier New"/>
                <a:ea typeface="Courier New"/>
                <a:cs typeface="Courier New"/>
                <a:sym typeface="Courier New"/>
              </a:rPr>
              <a:t>.. image::</a:t>
            </a:r>
            <a:r>
              <a:rPr lang="en-US"/>
              <a:t> or </a:t>
            </a:r>
            <a:r>
              <a:rPr b="1" lang="en-US" sz="1900">
                <a:latin typeface="Courier New"/>
                <a:ea typeface="Courier New"/>
                <a:cs typeface="Courier New"/>
                <a:sym typeface="Courier New"/>
              </a:rPr>
              <a:t>.. figure::</a:t>
            </a:r>
            <a:endParaRPr b="1" sz="1900">
              <a:latin typeface="Courier New"/>
              <a:ea typeface="Courier New"/>
              <a:cs typeface="Courier New"/>
              <a:sym typeface="Courier New"/>
            </a:endParaRPr>
          </a:p>
          <a:p>
            <a:pPr indent="-215265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Code blocks - </a:t>
            </a:r>
            <a:r>
              <a:rPr b="1" lang="en-US" sz="1900">
                <a:latin typeface="Courier New"/>
                <a:ea typeface="Courier New"/>
                <a:cs typeface="Courier New"/>
                <a:sym typeface="Courier New"/>
              </a:rPr>
              <a:t>.. code::</a:t>
            </a:r>
            <a:r>
              <a:rPr lang="en-US"/>
              <a:t> or </a:t>
            </a:r>
            <a:r>
              <a:rPr b="1" lang="en-US" sz="1900">
                <a:latin typeface="Courier New"/>
                <a:ea typeface="Courier New"/>
                <a:cs typeface="Courier New"/>
                <a:sym typeface="Courier New"/>
              </a:rPr>
              <a:t>.. code-block::</a:t>
            </a:r>
            <a:r>
              <a:rPr lang="en-US"/>
              <a:t>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b="1" lang="en-US"/>
              <a:t>Syntax: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  <p:pic>
        <p:nvPicPr>
          <p:cNvPr id="144" name="Google Shape;14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83329" y="4496100"/>
            <a:ext cx="4467849" cy="166710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5" name="Google Shape;145;p20"/>
          <p:cNvCxnSpPr>
            <a:stCxn id="146" idx="6"/>
          </p:cNvCxnSpPr>
          <p:nvPr/>
        </p:nvCxnSpPr>
        <p:spPr>
          <a:xfrm>
            <a:off x="1960341" y="5486802"/>
            <a:ext cx="739200" cy="1563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7" name="Google Shape;147;p20"/>
          <p:cNvCxnSpPr/>
          <p:nvPr/>
        </p:nvCxnSpPr>
        <p:spPr>
          <a:xfrm rot="10800000">
            <a:off x="5540828" y="5142412"/>
            <a:ext cx="1110343" cy="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148" name="Google Shape;148;p20"/>
          <p:cNvCxnSpPr/>
          <p:nvPr/>
        </p:nvCxnSpPr>
        <p:spPr>
          <a:xfrm rot="10800000">
            <a:off x="4082143" y="5329647"/>
            <a:ext cx="1110343" cy="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49" name="Google Shape;149;p20"/>
          <p:cNvSpPr/>
          <p:nvPr/>
        </p:nvSpPr>
        <p:spPr>
          <a:xfrm>
            <a:off x="6522722" y="5077837"/>
            <a:ext cx="339634" cy="339634"/>
          </a:xfrm>
          <a:prstGeom prst="ellipse">
            <a:avLst/>
          </a:prstGeom>
          <a:solidFill>
            <a:schemeClr val="dk1"/>
          </a:solidFill>
          <a:ln cap="flat" cmpd="sng" w="381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50" name="Google Shape;150;p20"/>
          <p:cNvSpPr/>
          <p:nvPr/>
        </p:nvSpPr>
        <p:spPr>
          <a:xfrm>
            <a:off x="5152299" y="5247654"/>
            <a:ext cx="339634" cy="339634"/>
          </a:xfrm>
          <a:prstGeom prst="ellipse">
            <a:avLst/>
          </a:prstGeom>
          <a:solidFill>
            <a:schemeClr val="dk1"/>
          </a:solidFill>
          <a:ln cap="flat" cmpd="sng" w="381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46" name="Google Shape;146;p20"/>
          <p:cNvSpPr/>
          <p:nvPr/>
        </p:nvSpPr>
        <p:spPr>
          <a:xfrm>
            <a:off x="1620707" y="5316985"/>
            <a:ext cx="339634" cy="339634"/>
          </a:xfrm>
          <a:prstGeom prst="ellipse">
            <a:avLst/>
          </a:prstGeom>
          <a:solidFill>
            <a:schemeClr val="dk1"/>
          </a:solidFill>
          <a:ln cap="flat" cmpd="sng" w="381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314284" y="4563462"/>
            <a:ext cx="45459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Argument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Option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Indent must match</a:t>
            </a:r>
            <a:endParaRPr/>
          </a:p>
        </p:txBody>
      </p:sp>
      <p:cxnSp>
        <p:nvCxnSpPr>
          <p:cNvPr id="152" name="Google Shape;152;p20"/>
          <p:cNvCxnSpPr>
            <a:stCxn id="146" idx="6"/>
          </p:cNvCxnSpPr>
          <p:nvPr/>
        </p:nvCxnSpPr>
        <p:spPr>
          <a:xfrm flipH="1" rot="10800000">
            <a:off x="1960341" y="5334102"/>
            <a:ext cx="739200" cy="1527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Create your own version</a:t>
            </a:r>
            <a:endParaRPr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Use the example file (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ktp-adv.rst</a:t>
            </a:r>
            <a:r>
              <a:rPr lang="en-US"/>
              <a:t>) as a template to share some information about yourself.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Rename the file using your initials or your name.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Send it to me via email. Don’t forget to send your image file too, if you used one.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Sphinx</a:t>
            </a:r>
            <a:endParaRPr/>
          </a:p>
        </p:txBody>
      </p:sp>
      <p:sp>
        <p:nvSpPr>
          <p:cNvPr id="164" name="Google Shape;164;p2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Sphinx</a:t>
            </a:r>
            <a:r>
              <a:rPr lang="en-US"/>
              <a:t> is an open-source documentation generation framework that uses reStructuredText as its source.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It was originally developed to create documentation for the Python programming language and is written in Python.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It can combine any number of reST files into a single document set. Sphinx markup is a superset of reStructuredText, defining new </a:t>
            </a:r>
            <a:r>
              <a:rPr b="1" lang="en-US"/>
              <a:t>directives</a:t>
            </a:r>
            <a:r>
              <a:rPr lang="en-US"/>
              <a:t> and </a:t>
            </a:r>
            <a:r>
              <a:rPr b="1" lang="en-US"/>
              <a:t>roles</a:t>
            </a:r>
            <a:r>
              <a:rPr lang="en-US"/>
              <a:t>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/>
              <a:t>Sphinx makes it easy to customize the look and feel of the static HTML output.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Sphinx basics</a:t>
            </a:r>
            <a:endParaRPr/>
          </a:p>
        </p:txBody>
      </p:sp>
      <p:sp>
        <p:nvSpPr>
          <p:cNvPr id="170" name="Google Shape;170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The .. toctree:: directive is the most important element of a Sphinx project. Every reST file must be referenced by a toctree.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Link to any reference target using the :ref: role no matter what file it is in (this is why they should be unique).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Only two files are required (the 3</a:t>
            </a:r>
            <a:r>
              <a:rPr baseline="30000" lang="en-US"/>
              <a:t>rd</a:t>
            </a:r>
            <a:r>
              <a:rPr lang="en-US"/>
              <a:t> is optional):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conf.py – configuration information for the Sphinx project.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index.rst – top level file with primary toctree.</a:t>
            </a:r>
            <a:endParaRPr/>
          </a:p>
          <a:p>
            <a:pPr indent="-457200" lvl="1" marL="914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lang="en-US"/>
              <a:t>Makefile/make.bat – are included to make building easier.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Build the docs: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Using make: make html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/>
              <a:t>sphinx-build -b html . _build/html 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Some Sphinx conventions</a:t>
            </a:r>
            <a:endParaRPr/>
          </a:p>
        </p:txBody>
      </p:sp>
      <p:sp>
        <p:nvSpPr>
          <p:cNvPr id="176" name="Google Shape;176;p24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Start support directories with a “_”.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Top level “_images” directory is easiest to manage and allows for reuse.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Try not to use more than 3 header levels. These are the ones I use for 1-3: “#”, “=”, “-”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In long paragraphs, add a carriage return at around 80 characters to make it easier to debug in Git etc. This won’t affect how it renders. 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latin typeface="Courier New"/>
                <a:ea typeface="Courier New"/>
                <a:cs typeface="Courier New"/>
                <a:sym typeface="Courier New"/>
              </a:rPr>
              <a:t>conf.py </a:t>
            </a:r>
            <a:r>
              <a:rPr lang="en-US"/>
              <a:t>basics</a:t>
            </a:r>
            <a:endParaRPr/>
          </a:p>
        </p:txBody>
      </p:sp>
      <p:sp>
        <p:nvSpPr>
          <p:cNvPr id="182" name="Google Shape;182;p25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D</a:t>
            </a:r>
            <a:r>
              <a:rPr lang="en-US"/>
              <a:t>efault separator for themes and extensions is _ , but use - when installing with 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pip</a:t>
            </a:r>
            <a:r>
              <a:rPr lang="en-US"/>
              <a:t>.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project = '</a:t>
            </a: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Tech Writing School'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extensions = ["",""]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urier New"/>
              <a:buChar char="●"/>
            </a:pPr>
            <a:r>
              <a:rPr b="1" lang="en-US" sz="1800">
                <a:latin typeface="Courier New"/>
                <a:ea typeface="Courier New"/>
                <a:cs typeface="Courier New"/>
                <a:sym typeface="Courier New"/>
              </a:rPr>
              <a:t>html_theme = 'name_of_theme'</a:t>
            </a:r>
            <a:endParaRPr b="1" sz="18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Takeaways</a:t>
            </a:r>
            <a:endParaRPr/>
          </a:p>
        </p:txBody>
      </p:sp>
      <p:sp>
        <p:nvSpPr>
          <p:cNvPr id="188" name="Google Shape;188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Most of reST is defined in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Docutils</a:t>
            </a:r>
            <a:r>
              <a:rPr lang="en-US"/>
              <a:t>.</a:t>
            </a:r>
            <a:endParaRPr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Sphinx combines reST files to create a hierarchical document.</a:t>
            </a:r>
            <a:endParaRPr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Sphinx also defines a </a:t>
            </a:r>
            <a:r>
              <a:rPr lang="en-US" u="sng">
                <a:solidFill>
                  <a:schemeClr val="hlink"/>
                </a:solidFill>
                <a:hlinkClick r:id="rId4"/>
              </a:rPr>
              <a:t>superset of reST</a:t>
            </a:r>
            <a:r>
              <a:rPr lang="en-US"/>
              <a:t>.</a:t>
            </a:r>
            <a:endParaRPr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Configure your Sphinx project in the </a:t>
            </a:r>
            <a:r>
              <a:rPr lang="en-US" u="sng">
                <a:solidFill>
                  <a:schemeClr val="hlink"/>
                </a:solidFill>
                <a:hlinkClick r:id="rId5"/>
              </a:rPr>
              <a:t>conf.py</a:t>
            </a:r>
            <a:r>
              <a:rPr lang="en-US"/>
              <a:t>.</a:t>
            </a:r>
            <a:endParaRPr/>
          </a:p>
          <a:p>
            <a:pPr indent="-4064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•"/>
            </a:pPr>
            <a:r>
              <a:rPr lang="en-US"/>
              <a:t>Source code is your friend. If you see something you like, go see the source and learn how to do it yourself.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Backup</a:t>
            </a:r>
            <a:endParaRPr/>
          </a:p>
        </p:txBody>
      </p:sp>
      <p:sp>
        <p:nvSpPr>
          <p:cNvPr id="194" name="Google Shape;194;p27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Installing the reStructuredText extension for VS Code</a:t>
            </a:r>
            <a:endParaRPr/>
          </a:p>
        </p:txBody>
      </p:sp>
      <p:sp>
        <p:nvSpPr>
          <p:cNvPr id="200" name="Google Shape;200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Click View&gt;Extensions (Ctrl-shift-x)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Type “restructuredtext” in the search field that appears at the top of list of installed extensions (It should say “Search Extensions in Marketplace”).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In the list of extensions, find “reStructuredText” by LeXtudio Inc. It should be at the top of the list.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</a:pPr>
            <a:r>
              <a:rPr lang="en-US"/>
              <a:t>Click the small blue “Install” button. Alternatively, click on the extension in the list and the full description of the extension should appear as a tab in the editor. There will be another “Install” button in the header area.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